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oleObject"/>
  <Default Extension="png" ContentType="image/png"/>
  <Default Extension="vml" ContentType="application/vnd.openxmlformats-officedocument.vmlDrawi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17"/>
  </p:notesMasterIdLst>
  <p:sldIdLst>
    <p:sldId id="347" r:id="rId2"/>
    <p:sldId id="304" r:id="rId3"/>
    <p:sldId id="303" r:id="rId4"/>
    <p:sldId id="341" r:id="rId5"/>
    <p:sldId id="305" r:id="rId6"/>
    <p:sldId id="331" r:id="rId7"/>
    <p:sldId id="330" r:id="rId8"/>
    <p:sldId id="342" r:id="rId9"/>
    <p:sldId id="343" r:id="rId10"/>
    <p:sldId id="332" r:id="rId11"/>
    <p:sldId id="344" r:id="rId12"/>
    <p:sldId id="335" r:id="rId13"/>
    <p:sldId id="334" r:id="rId14"/>
    <p:sldId id="345" r:id="rId15"/>
    <p:sldId id="346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69696"/>
    <a:srgbClr val="B2B2B2"/>
    <a:srgbClr val="50861A"/>
    <a:srgbClr val="FFFF66"/>
    <a:srgbClr val="FFFF99"/>
    <a:srgbClr val="F072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470" autoAdjust="0"/>
    <p:restoredTop sz="82537" autoAdjust="0"/>
  </p:normalViewPr>
  <p:slideViewPr>
    <p:cSldViewPr>
      <p:cViewPr varScale="1">
        <p:scale>
          <a:sx n="75" d="100"/>
          <a:sy n="75" d="100"/>
        </p:scale>
        <p:origin x="4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966C341-A0D1-47B5-84DB-ABF6DCA01DE7}" type="datetimeFigureOut">
              <a:rPr lang="en-US"/>
              <a:pPr>
                <a:defRPr/>
              </a:pPr>
              <a:t>10/3/24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01CEBEAD-1F51-41AB-A8C7-778A9F4FB7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750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25CD2F8-1715-46D8-856C-C4020230C3A0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9412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>
              <a:latin typeface="Calibri" pitchFamily="34" charset="0"/>
            </a:endParaRPr>
          </a:p>
        </p:txBody>
      </p:sp>
      <p:sp>
        <p:nvSpPr>
          <p:cNvPr id="8806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43D2DA7-B416-4DBC-B017-05F46DDEE430}" type="slidenum">
              <a:rPr lang="en-US" sz="1200">
                <a:latin typeface="Calibri" pitchFamily="34" charset="0"/>
              </a:rPr>
              <a:pPr algn="r"/>
              <a:t>2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176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>
              <a:latin typeface="Calibri" pitchFamily="34" charset="0"/>
            </a:endParaRPr>
          </a:p>
        </p:txBody>
      </p:sp>
      <p:sp>
        <p:nvSpPr>
          <p:cNvPr id="8602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79240EB-3F45-4909-8DDB-88059BA427FD}" type="slidenum">
              <a:rPr lang="en-US" sz="1200">
                <a:latin typeface="Calibri" pitchFamily="34" charset="0"/>
              </a:rPr>
              <a:pPr algn="r"/>
              <a:t>3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377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>
              <a:latin typeface="Calibri" pitchFamily="34" charset="0"/>
            </a:endParaRPr>
          </a:p>
        </p:txBody>
      </p:sp>
      <p:sp>
        <p:nvSpPr>
          <p:cNvPr id="16896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99A2C87-CEEF-405F-A0E9-0194DC418C43}" type="slidenum">
              <a:rPr lang="en-US" sz="1200">
                <a:latin typeface="Calibri" pitchFamily="34" charset="0"/>
              </a:rPr>
              <a:pPr algn="r"/>
              <a:t>4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484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>
              <a:latin typeface="Calibri" pitchFamily="34" charset="0"/>
            </a:endParaRPr>
          </a:p>
        </p:txBody>
      </p:sp>
      <p:sp>
        <p:nvSpPr>
          <p:cNvPr id="9011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90F2ECF-7FE8-410C-A75E-5CE1AD1C78C5}" type="slidenum">
              <a:rPr lang="en-US" sz="1200">
                <a:latin typeface="Calibri" pitchFamily="34" charset="0"/>
              </a:rPr>
              <a:pPr algn="r"/>
              <a:t>5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544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mtClean="0"/>
              <a:t>We divide the number by 7</a:t>
            </a:r>
          </a:p>
        </p:txBody>
      </p:sp>
      <p:sp>
        <p:nvSpPr>
          <p:cNvPr id="14541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AD1E8E9-18CD-4CEF-8239-8AD9CC18778E}" type="slidenum">
              <a:rPr lang="en-US" sz="1200">
                <a:latin typeface="Calibri" pitchFamily="34" charset="0"/>
              </a:rPr>
              <a:pPr algn="r"/>
              <a:t>6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413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mtClean="0"/>
              <a:t>We divide the number by 7</a:t>
            </a:r>
          </a:p>
        </p:txBody>
      </p:sp>
      <p:sp>
        <p:nvSpPr>
          <p:cNvPr id="14234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6EC6E5B-6EFB-40B5-96E4-B16B7384FB72}" type="slidenum">
              <a:rPr lang="en-US" sz="1200">
                <a:latin typeface="Calibri" pitchFamily="34" charset="0"/>
              </a:rPr>
              <a:pPr algn="r"/>
              <a:t>7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898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1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mtClean="0"/>
              <a:t>We divide the number by 7</a:t>
            </a:r>
          </a:p>
        </p:txBody>
      </p:sp>
      <p:sp>
        <p:nvSpPr>
          <p:cNvPr id="17101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665DFE1-1253-42DB-8B4B-1BBB45C5EFDD}" type="slidenum">
              <a:rPr lang="en-US" sz="1200">
                <a:latin typeface="Calibri" pitchFamily="34" charset="0"/>
              </a:rPr>
              <a:pPr algn="r"/>
              <a:t>8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575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mtClean="0"/>
              <a:t>We divide the number by 7</a:t>
            </a:r>
          </a:p>
        </p:txBody>
      </p:sp>
      <p:sp>
        <p:nvSpPr>
          <p:cNvPr id="17306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690461D-005F-470A-97A7-56B3D87B8414}" type="slidenum">
              <a:rPr lang="en-US" sz="1200">
                <a:latin typeface="Calibri" pitchFamily="34" charset="0"/>
              </a:rPr>
              <a:pPr algn="r"/>
              <a:t>9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594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mtClean="0"/>
              <a:t>Greatest common devisor</a:t>
            </a:r>
          </a:p>
        </p:txBody>
      </p:sp>
      <p:sp>
        <p:nvSpPr>
          <p:cNvPr id="14746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E47B7D6-50B5-4681-8EAB-8DC96E66FC5D}" type="slidenum">
              <a:rPr lang="en-US" sz="1200">
                <a:latin typeface="Calibri" pitchFamily="34" charset="0"/>
              </a:rPr>
              <a:pPr algn="r"/>
              <a:t>10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98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5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>
              <a:latin typeface="Calibri" pitchFamily="34" charset="0"/>
            </a:endParaRPr>
          </a:p>
        </p:txBody>
      </p:sp>
      <p:sp>
        <p:nvSpPr>
          <p:cNvPr id="17510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E0C5490-6F6C-42F5-8A25-7EA6AF09794C}" type="slidenum">
              <a:rPr lang="en-US" sz="1200">
                <a:latin typeface="Calibri" pitchFamily="34" charset="0"/>
              </a:rPr>
              <a:pPr algn="r"/>
              <a:t>11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664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mtClean="0"/>
              <a:t>Greatest common devisor</a:t>
            </a:r>
          </a:p>
        </p:txBody>
      </p:sp>
      <p:sp>
        <p:nvSpPr>
          <p:cNvPr id="15360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5AE6838-4DF4-4790-83CB-6DB38D10DC05}" type="slidenum">
              <a:rPr lang="en-US" sz="1200">
                <a:latin typeface="Calibri" pitchFamily="34" charset="0"/>
              </a:rPr>
              <a:pPr algn="r"/>
              <a:t>12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566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mtClean="0"/>
              <a:t>Greatest common devisor</a:t>
            </a:r>
          </a:p>
        </p:txBody>
      </p:sp>
      <p:sp>
        <p:nvSpPr>
          <p:cNvPr id="15155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E0895AB-91F3-4306-8CDF-6B80C66A01A9}" type="slidenum">
              <a:rPr lang="en-US" sz="1200">
                <a:latin typeface="Calibri" pitchFamily="34" charset="0"/>
              </a:rPr>
              <a:pPr algn="r"/>
              <a:t>13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035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7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mtClean="0"/>
              <a:t>Greatest common devisor</a:t>
            </a:r>
          </a:p>
        </p:txBody>
      </p:sp>
      <p:sp>
        <p:nvSpPr>
          <p:cNvPr id="17715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B491A4D-0B9B-4E2E-BA63-12998BCF48B7}" type="slidenum">
              <a:rPr lang="en-US" sz="1200">
                <a:latin typeface="Calibri" pitchFamily="34" charset="0"/>
              </a:rPr>
              <a:pPr algn="r"/>
              <a:t>14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76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mtClean="0"/>
              <a:t>Greatest common devisor</a:t>
            </a:r>
          </a:p>
        </p:txBody>
      </p:sp>
      <p:sp>
        <p:nvSpPr>
          <p:cNvPr id="17920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56A92D8-80D1-4FD1-A6CB-0D42311E624C}" type="slidenum">
              <a:rPr lang="en-US" sz="1200">
                <a:latin typeface="Calibri" pitchFamily="34" charset="0"/>
              </a:rPr>
              <a:pPr algn="r"/>
              <a:t>15</a:t>
            </a:fld>
            <a:endParaRPr lang="en-US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268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91284C-4FDE-42F1-9507-78776EBEE6F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085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22C69B-2AE8-4C77-A192-A91F99AD9A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884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7244A3-707A-4679-8301-5F23D5FE3D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101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1B8D8C-479E-4DDC-8EAF-3BA6803F02E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A58455-B9AF-4D3A-9444-590B895D8A8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59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4662FC-2A2B-4FB4-8025-978AC0139B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28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8D8D7F-E0A8-465D-A9A9-B0711DF245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76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5EFB3C-ACDB-4BFC-B274-EB2D9B50129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78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811A5-4DCE-48E3-BFB0-CC310378693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736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00A716-537B-44DB-91F4-285693590E1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278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6BB630-4A11-49C5-8484-D6CB5E7EED7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492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840821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03187" y="579437"/>
            <a:ext cx="1158874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1" y="324666"/>
            <a:ext cx="6019800" cy="74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082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B1B0584-D39B-416A-B8B9-BCD4F8B7F7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38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iming>
    <p:tnLst>
      <p:par>
        <p:cTn id="1" dur="indefinite" restart="never" nodeType="tmRoot"/>
      </p:par>
    </p:tnLst>
  </p:timing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2.w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1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9.wmf"/><Relationship Id="rId7" Type="http://schemas.openxmlformats.org/officeDocument/2006/relationships/oleObject" Target="../embeddings/oleObject4.bin"/><Relationship Id="rId8" Type="http://schemas.openxmlformats.org/officeDocument/2006/relationships/image" Target="../media/image10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 idx="4294967295"/>
          </p:nvPr>
        </p:nvSpPr>
        <p:spPr>
          <a:xfrm>
            <a:off x="1138719" y="1447800"/>
            <a:ext cx="6858000" cy="2035864"/>
          </a:xfrm>
        </p:spPr>
        <p:txBody>
          <a:bodyPr>
            <a:normAutofit/>
          </a:bodyPr>
          <a:lstStyle/>
          <a:p>
            <a:pPr algn="l" eaLnBrk="1" hangingPunct="1"/>
            <a:r>
              <a:rPr lang="vi-VN" altLang="en-US" b="1" dirty="0" smtClean="0">
                <a:latin typeface="Calibri" charset="0"/>
                <a:ea typeface="Calibri" charset="0"/>
                <a:cs typeface="Calibri" charset="0"/>
              </a:rPr>
              <a:t>DISCRETE MATHEMATIC</a:t>
            </a:r>
            <a:br>
              <a:rPr lang="vi-VN" altLang="en-US" b="1" dirty="0" smtClean="0">
                <a:latin typeface="Calibri" charset="0"/>
                <a:ea typeface="Calibri" charset="0"/>
                <a:cs typeface="Calibri" charset="0"/>
              </a:rPr>
            </a:br>
            <a:r>
              <a:rPr lang="en-US" altLang="en-US" b="1" dirty="0" smtClean="0">
                <a:latin typeface="Calibri" charset="0"/>
                <a:ea typeface="Calibri" charset="0"/>
                <a:cs typeface="Calibri" charset="0"/>
              </a:rPr>
              <a:t>LEC-06: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vi-VN" altLang="en-US" dirty="0" smtClean="0"/>
              <a:t>Polynomials</a:t>
            </a:r>
            <a:endParaRPr lang="en-US" altLang="en-US" sz="40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0600"/>
            <a:ext cx="6858000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96200" y="1371600"/>
            <a:ext cx="1295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Fall</a:t>
            </a:r>
            <a:r>
              <a:rPr lang="en-US" smtClean="0"/>
              <a:t>, </a:t>
            </a:r>
            <a:r>
              <a:rPr lang="en-US" smtClean="0"/>
              <a:t>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132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Polynomial</a:t>
            </a:r>
          </a:p>
        </p:txBody>
      </p: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87059" name="Text Box 19"/>
          <p:cNvSpPr txBox="1">
            <a:spLocks noChangeArrowheads="1"/>
          </p:cNvSpPr>
          <p:nvPr/>
        </p:nvSpPr>
        <p:spPr bwMode="auto">
          <a:xfrm>
            <a:off x="533400" y="3048000"/>
            <a:ext cx="8229600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>
                <a:solidFill>
                  <a:schemeClr val="accent1"/>
                </a:solidFill>
              </a:rPr>
              <a:t>Degree: d</a:t>
            </a:r>
          </a:p>
          <a:p>
            <a:r>
              <a:rPr lang="en-US" sz="3200">
                <a:solidFill>
                  <a:schemeClr val="accent1"/>
                </a:solidFill>
              </a:rPr>
              <a:t>Coefficients are real numbers</a:t>
            </a:r>
          </a:p>
          <a:p>
            <a:r>
              <a:rPr lang="en-US" sz="3200" i="1">
                <a:solidFill>
                  <a:schemeClr val="accent1"/>
                </a:solidFill>
              </a:rPr>
              <a:t>a</a:t>
            </a:r>
            <a:r>
              <a:rPr lang="en-US" sz="3200">
                <a:solidFill>
                  <a:schemeClr val="accent1"/>
                </a:solidFill>
              </a:rPr>
              <a:t> is a root if </a:t>
            </a:r>
            <a:r>
              <a:rPr lang="en-US" sz="3200" i="1">
                <a:solidFill>
                  <a:schemeClr val="accent1"/>
                </a:solidFill>
              </a:rPr>
              <a:t>P</a:t>
            </a:r>
            <a:r>
              <a:rPr lang="en-US" sz="3200">
                <a:solidFill>
                  <a:schemeClr val="accent1"/>
                </a:solidFill>
              </a:rPr>
              <a:t>(</a:t>
            </a:r>
            <a:r>
              <a:rPr lang="en-US" sz="3200" i="1">
                <a:solidFill>
                  <a:schemeClr val="accent1"/>
                </a:solidFill>
              </a:rPr>
              <a:t>a</a:t>
            </a:r>
            <a:r>
              <a:rPr lang="en-US" sz="3200">
                <a:solidFill>
                  <a:schemeClr val="accent1"/>
                </a:solidFill>
              </a:rPr>
              <a:t>) = 0</a:t>
            </a:r>
          </a:p>
        </p:txBody>
      </p:sp>
      <p:graphicFrame>
        <p:nvGraphicFramePr>
          <p:cNvPr id="87060" name="Object 20"/>
          <p:cNvGraphicFramePr>
            <a:graphicFrameLocks noChangeAspect="1"/>
          </p:cNvGraphicFramePr>
          <p:nvPr/>
        </p:nvGraphicFramePr>
        <p:xfrm>
          <a:off x="1371600" y="2057400"/>
          <a:ext cx="62484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89" name="Equation" r:id="rId4" imgW="2209680" imgH="241200" progId="Equation.3">
                  <p:embed/>
                </p:oleObj>
              </mc:Choice>
              <mc:Fallback>
                <p:oleObj name="Equation" r:id="rId4" imgW="2209680" imgH="2412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057400"/>
                        <a:ext cx="6248400" cy="681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1" name="Object 21"/>
          <p:cNvGraphicFramePr>
            <a:graphicFrameLocks noChangeAspect="1"/>
          </p:cNvGraphicFramePr>
          <p:nvPr/>
        </p:nvGraphicFramePr>
        <p:xfrm>
          <a:off x="6324600" y="3505200"/>
          <a:ext cx="752475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90" name="Equation" r:id="rId6" imgW="266400" imgH="228600" progId="Equation.3">
                  <p:embed/>
                </p:oleObj>
              </mc:Choice>
              <mc:Fallback>
                <p:oleObj name="Equation" r:id="rId6" imgW="266400" imgH="2286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505200"/>
                        <a:ext cx="752475" cy="646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Property 1</a:t>
            </a:r>
          </a:p>
        </p:txBody>
      </p:sp>
      <p:sp>
        <p:nvSpPr>
          <p:cNvPr id="85013" name="Rectangle 21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85015" name="Rectangle 2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11" name="TextBox 10"/>
          <p:cNvSpPr txBox="1"/>
          <p:nvPr/>
        </p:nvSpPr>
        <p:spPr>
          <a:xfrm>
            <a:off x="533400" y="3124200"/>
            <a:ext cx="4724400" cy="1085850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txBody>
          <a:bodyPr anchor="ctr">
            <a:spAutoFit/>
          </a:bodyPr>
          <a:lstStyle/>
          <a:p>
            <a:r>
              <a:rPr lang="en-US" sz="3200" i="1">
                <a:solidFill>
                  <a:schemeClr val="tx2"/>
                </a:solidFill>
              </a:rPr>
              <a:t>d</a:t>
            </a:r>
            <a:r>
              <a:rPr lang="en-US" sz="3200">
                <a:solidFill>
                  <a:schemeClr val="tx2"/>
                </a:solidFill>
              </a:rPr>
              <a:t> = 1: linear function</a:t>
            </a:r>
          </a:p>
          <a:p>
            <a:r>
              <a:rPr lang="en-US" sz="3200" i="1">
                <a:solidFill>
                  <a:schemeClr val="tx2"/>
                </a:solidFill>
              </a:rPr>
              <a:t>d</a:t>
            </a:r>
            <a:r>
              <a:rPr lang="en-US" sz="3200">
                <a:solidFill>
                  <a:schemeClr val="tx2"/>
                </a:solidFill>
              </a:rPr>
              <a:t> = 2: quadratic function</a:t>
            </a:r>
          </a:p>
        </p:txBody>
      </p:sp>
      <p:sp>
        <p:nvSpPr>
          <p:cNvPr id="85018" name="Text Box 26"/>
          <p:cNvSpPr txBox="1">
            <a:spLocks noChangeArrowheads="1"/>
          </p:cNvSpPr>
          <p:nvPr/>
        </p:nvSpPr>
        <p:spPr bwMode="auto">
          <a:xfrm>
            <a:off x="533400" y="18288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 b="1">
                <a:solidFill>
                  <a:srgbClr val="F0720A"/>
                </a:solidFill>
              </a:rPr>
              <a:t>A non-zero polynomial of degree </a:t>
            </a:r>
            <a:r>
              <a:rPr lang="en-US" sz="3200" b="1" i="1">
                <a:solidFill>
                  <a:srgbClr val="F0720A"/>
                </a:solidFill>
              </a:rPr>
              <a:t>d</a:t>
            </a:r>
            <a:r>
              <a:rPr lang="en-US" sz="3200" b="1">
                <a:solidFill>
                  <a:srgbClr val="F0720A"/>
                </a:solidFill>
              </a:rPr>
              <a:t> has at most </a:t>
            </a:r>
            <a:r>
              <a:rPr lang="en-US" sz="3200" b="1" i="1">
                <a:solidFill>
                  <a:srgbClr val="F0720A"/>
                </a:solidFill>
              </a:rPr>
              <a:t>d</a:t>
            </a:r>
            <a:r>
              <a:rPr lang="en-US" sz="3200" b="1">
                <a:solidFill>
                  <a:srgbClr val="F0720A"/>
                </a:solidFill>
              </a:rPr>
              <a:t> roots.</a:t>
            </a:r>
          </a:p>
        </p:txBody>
      </p:sp>
      <p:pic>
        <p:nvPicPr>
          <p:cNvPr id="85021" name="Picture 2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67400" y="3124200"/>
            <a:ext cx="275272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5023" name="Picture 3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000" y="4267200"/>
            <a:ext cx="527685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Proof</a:t>
            </a:r>
          </a:p>
        </p:txBody>
      </p:sp>
      <p:sp>
        <p:nvSpPr>
          <p:cNvPr id="167945" name="Rectangle 9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167946" name="Rectangle 10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vi-VN"/>
          </a:p>
        </p:txBody>
      </p:sp>
      <p:sp>
        <p:nvSpPr>
          <p:cNvPr id="11" name="TextBox 10"/>
          <p:cNvSpPr txBox="1"/>
          <p:nvPr/>
        </p:nvSpPr>
        <p:spPr>
          <a:xfrm>
            <a:off x="533400" y="1797050"/>
            <a:ext cx="8077200" cy="4010025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txBody>
          <a:bodyPr anchor="ctr">
            <a:spAutoFit/>
          </a:bodyPr>
          <a:lstStyle/>
          <a:p>
            <a:r>
              <a:rPr lang="en-US" sz="3200" i="1">
                <a:solidFill>
                  <a:schemeClr val="tx2"/>
                </a:solidFill>
              </a:rPr>
              <a:t>a</a:t>
            </a:r>
            <a:r>
              <a:rPr lang="en-US" sz="3200">
                <a:solidFill>
                  <a:schemeClr val="tx2"/>
                </a:solidFill>
              </a:rPr>
              <a:t> is a root of </a:t>
            </a:r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 iff 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-</a:t>
            </a:r>
            <a:r>
              <a:rPr lang="en-US" sz="3200" i="1">
                <a:solidFill>
                  <a:schemeClr val="tx2"/>
                </a:solidFill>
              </a:rPr>
              <a:t>a</a:t>
            </a:r>
            <a:r>
              <a:rPr lang="en-US" sz="3200">
                <a:solidFill>
                  <a:schemeClr val="tx2"/>
                </a:solidFill>
              </a:rPr>
              <a:t>) divides </a:t>
            </a:r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</a:t>
            </a:r>
          </a:p>
          <a:p>
            <a:endParaRPr lang="en-US" sz="3200">
              <a:solidFill>
                <a:schemeClr val="tx2"/>
              </a:solidFill>
            </a:endParaRPr>
          </a:p>
          <a:p>
            <a:r>
              <a:rPr lang="en-US" sz="3200">
                <a:solidFill>
                  <a:schemeClr val="tx2"/>
                </a:solidFill>
              </a:rPr>
              <a:t>Assume that </a:t>
            </a:r>
            <a:r>
              <a:rPr lang="en-US" sz="3200" i="1">
                <a:solidFill>
                  <a:schemeClr val="tx2"/>
                </a:solidFill>
              </a:rPr>
              <a:t>a</a:t>
            </a:r>
            <a:r>
              <a:rPr lang="en-US" sz="3200" baseline="-25000">
                <a:solidFill>
                  <a:schemeClr val="tx2"/>
                </a:solidFill>
              </a:rPr>
              <a:t>1</a:t>
            </a:r>
            <a:r>
              <a:rPr lang="en-US" sz="3200">
                <a:solidFill>
                  <a:schemeClr val="tx2"/>
                </a:solidFill>
              </a:rPr>
              <a:t>, </a:t>
            </a:r>
            <a:r>
              <a:rPr lang="en-US" sz="3200" i="1">
                <a:solidFill>
                  <a:schemeClr val="tx2"/>
                </a:solidFill>
              </a:rPr>
              <a:t>a</a:t>
            </a:r>
            <a:r>
              <a:rPr lang="en-US" sz="3200" baseline="-25000">
                <a:solidFill>
                  <a:schemeClr val="tx2"/>
                </a:solidFill>
              </a:rPr>
              <a:t>2</a:t>
            </a:r>
            <a:r>
              <a:rPr lang="en-US" sz="3200">
                <a:solidFill>
                  <a:schemeClr val="tx2"/>
                </a:solidFill>
              </a:rPr>
              <a:t>, …, </a:t>
            </a:r>
            <a:r>
              <a:rPr lang="en-US" sz="3200" i="1">
                <a:solidFill>
                  <a:schemeClr val="tx2"/>
                </a:solidFill>
              </a:rPr>
              <a:t>a</a:t>
            </a:r>
            <a:r>
              <a:rPr lang="en-US" sz="3200" i="1" baseline="-25000">
                <a:solidFill>
                  <a:schemeClr val="tx2"/>
                </a:solidFill>
              </a:rPr>
              <a:t>d+1</a:t>
            </a:r>
            <a:r>
              <a:rPr lang="en-US" sz="3200" i="1">
                <a:solidFill>
                  <a:schemeClr val="tx2"/>
                </a:solidFill>
              </a:rPr>
              <a:t> </a:t>
            </a:r>
            <a:r>
              <a:rPr lang="en-US" sz="3200">
                <a:solidFill>
                  <a:schemeClr val="tx2"/>
                </a:solidFill>
              </a:rPr>
              <a:t>are d+1 distinct roots of </a:t>
            </a:r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 (degree </a:t>
            </a:r>
            <a:r>
              <a:rPr lang="en-US" sz="3200" i="1">
                <a:solidFill>
                  <a:schemeClr val="tx2"/>
                </a:solidFill>
              </a:rPr>
              <a:t>d</a:t>
            </a:r>
            <a:r>
              <a:rPr lang="en-US" sz="3200">
                <a:solidFill>
                  <a:schemeClr val="tx2"/>
                </a:solidFill>
              </a:rPr>
              <a:t>)</a:t>
            </a:r>
          </a:p>
          <a:p>
            <a:pPr>
              <a:buFont typeface="Symbol" pitchFamily="18" charset="2"/>
              <a:buChar char="Þ"/>
            </a:pPr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 = </a:t>
            </a:r>
            <a:r>
              <a:rPr lang="en-US" sz="3200" i="1">
                <a:solidFill>
                  <a:schemeClr val="tx2"/>
                </a:solidFill>
              </a:rPr>
              <a:t>c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 - </a:t>
            </a:r>
            <a:r>
              <a:rPr lang="en-US" sz="3200" i="1">
                <a:solidFill>
                  <a:schemeClr val="tx2"/>
                </a:solidFill>
              </a:rPr>
              <a:t>a</a:t>
            </a:r>
            <a:r>
              <a:rPr lang="en-US" sz="3200" baseline="-25000">
                <a:solidFill>
                  <a:schemeClr val="tx2"/>
                </a:solidFill>
              </a:rPr>
              <a:t>1</a:t>
            </a:r>
            <a:r>
              <a:rPr lang="en-US" sz="3200">
                <a:solidFill>
                  <a:schemeClr val="tx2"/>
                </a:solidFill>
              </a:rPr>
              <a:t>)…(</a:t>
            </a:r>
            <a:r>
              <a:rPr lang="en-US" sz="3200" i="1">
                <a:solidFill>
                  <a:schemeClr val="tx2"/>
                </a:solidFill>
              </a:rPr>
              <a:t>x </a:t>
            </a:r>
            <a:r>
              <a:rPr lang="en-US" sz="3200">
                <a:solidFill>
                  <a:schemeClr val="tx2"/>
                </a:solidFill>
              </a:rPr>
              <a:t>- </a:t>
            </a:r>
            <a:r>
              <a:rPr lang="en-US" sz="3200" i="1">
                <a:solidFill>
                  <a:schemeClr val="tx2"/>
                </a:solidFill>
              </a:rPr>
              <a:t>a</a:t>
            </a:r>
            <a:r>
              <a:rPr lang="en-US" sz="3200" i="1" baseline="-25000">
                <a:solidFill>
                  <a:schemeClr val="tx2"/>
                </a:solidFill>
              </a:rPr>
              <a:t>d</a:t>
            </a:r>
            <a:r>
              <a:rPr lang="en-US" sz="3200" baseline="-25000">
                <a:solidFill>
                  <a:schemeClr val="tx2"/>
                </a:solidFill>
              </a:rPr>
              <a:t>+1</a:t>
            </a:r>
            <a:r>
              <a:rPr lang="en-US" sz="3200">
                <a:solidFill>
                  <a:schemeClr val="tx2"/>
                </a:solidFill>
              </a:rPr>
              <a:t>)</a:t>
            </a:r>
          </a:p>
          <a:p>
            <a:pPr>
              <a:buFont typeface="Symbol" pitchFamily="18" charset="2"/>
              <a:buChar char="Þ"/>
            </a:pPr>
            <a:r>
              <a:rPr lang="en-US" sz="3200" i="1">
                <a:solidFill>
                  <a:schemeClr val="tx2"/>
                </a:solidFill>
              </a:rPr>
              <a:t>P(x) has degree &gt;= d + 1. Constradiction.</a:t>
            </a:r>
          </a:p>
          <a:p>
            <a:pPr>
              <a:buFont typeface="Symbol" pitchFamily="18" charset="2"/>
              <a:buChar char="Þ"/>
            </a:pPr>
            <a:endParaRPr lang="en-US" sz="3200" i="1">
              <a:solidFill>
                <a:schemeClr val="tx2"/>
              </a:solidFill>
            </a:endParaRPr>
          </a:p>
          <a:p>
            <a:endParaRPr lang="en-US" sz="32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Property 2</a:t>
            </a:r>
          </a:p>
        </p:txBody>
      </p:sp>
      <p:sp>
        <p:nvSpPr>
          <p:cNvPr id="89097" name="Rectangle 9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11" name="TextBox 10"/>
          <p:cNvSpPr txBox="1"/>
          <p:nvPr/>
        </p:nvSpPr>
        <p:spPr>
          <a:xfrm>
            <a:off x="533400" y="1981200"/>
            <a:ext cx="8229600" cy="1573213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txBody>
          <a:bodyPr anchor="ctr">
            <a:sp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Given </a:t>
            </a:r>
            <a:r>
              <a:rPr lang="en-US" sz="3200" i="1">
                <a:solidFill>
                  <a:schemeClr val="tx2"/>
                </a:solidFill>
              </a:rPr>
              <a:t>d</a:t>
            </a:r>
            <a:r>
              <a:rPr lang="en-US" sz="3200">
                <a:solidFill>
                  <a:schemeClr val="tx2"/>
                </a:solidFill>
              </a:rPr>
              <a:t>+1 pairs 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 baseline="-25000">
                <a:solidFill>
                  <a:schemeClr val="tx2"/>
                </a:solidFill>
              </a:rPr>
              <a:t>1</a:t>
            </a:r>
            <a:r>
              <a:rPr lang="en-US" sz="3200">
                <a:solidFill>
                  <a:schemeClr val="tx2"/>
                </a:solidFill>
              </a:rPr>
              <a:t>,</a:t>
            </a:r>
            <a:r>
              <a:rPr lang="en-US" sz="3200" i="1">
                <a:solidFill>
                  <a:schemeClr val="tx2"/>
                </a:solidFill>
              </a:rPr>
              <a:t>y</a:t>
            </a:r>
            <a:r>
              <a:rPr lang="en-US" sz="3200" baseline="-25000">
                <a:solidFill>
                  <a:schemeClr val="tx2"/>
                </a:solidFill>
              </a:rPr>
              <a:t>1</a:t>
            </a:r>
            <a:r>
              <a:rPr lang="en-US" sz="3200">
                <a:solidFill>
                  <a:schemeClr val="tx2"/>
                </a:solidFill>
              </a:rPr>
              <a:t>), 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 baseline="-25000">
                <a:solidFill>
                  <a:schemeClr val="tx2"/>
                </a:solidFill>
              </a:rPr>
              <a:t>2</a:t>
            </a:r>
            <a:r>
              <a:rPr lang="en-US" sz="3200">
                <a:solidFill>
                  <a:schemeClr val="tx2"/>
                </a:solidFill>
              </a:rPr>
              <a:t>,</a:t>
            </a:r>
            <a:r>
              <a:rPr lang="en-US" sz="3200" i="1">
                <a:solidFill>
                  <a:schemeClr val="tx2"/>
                </a:solidFill>
              </a:rPr>
              <a:t>y</a:t>
            </a:r>
            <a:r>
              <a:rPr lang="en-US" sz="3200" baseline="-25000">
                <a:solidFill>
                  <a:schemeClr val="tx2"/>
                </a:solidFill>
              </a:rPr>
              <a:t>2</a:t>
            </a:r>
            <a:r>
              <a:rPr lang="en-US" sz="3200">
                <a:solidFill>
                  <a:schemeClr val="tx2"/>
                </a:solidFill>
              </a:rPr>
              <a:t>)…, 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 i="1" baseline="-25000">
                <a:solidFill>
                  <a:schemeClr val="tx2"/>
                </a:solidFill>
              </a:rPr>
              <a:t>d</a:t>
            </a:r>
            <a:r>
              <a:rPr lang="en-US" sz="3200" baseline="-25000">
                <a:solidFill>
                  <a:schemeClr val="tx2"/>
                </a:solidFill>
              </a:rPr>
              <a:t>+1</a:t>
            </a:r>
            <a:r>
              <a:rPr lang="en-US" sz="3200">
                <a:solidFill>
                  <a:schemeClr val="tx2"/>
                </a:solidFill>
              </a:rPr>
              <a:t>,</a:t>
            </a:r>
            <a:r>
              <a:rPr lang="en-US" sz="3200" i="1">
                <a:solidFill>
                  <a:schemeClr val="tx2"/>
                </a:solidFill>
              </a:rPr>
              <a:t>y</a:t>
            </a:r>
            <a:r>
              <a:rPr lang="en-US" sz="3200" i="1" baseline="-25000">
                <a:solidFill>
                  <a:schemeClr val="tx2"/>
                </a:solidFill>
              </a:rPr>
              <a:t>d</a:t>
            </a:r>
            <a:r>
              <a:rPr lang="en-US" sz="3200" baseline="-25000">
                <a:solidFill>
                  <a:schemeClr val="tx2"/>
                </a:solidFill>
              </a:rPr>
              <a:t>+1</a:t>
            </a:r>
            <a:r>
              <a:rPr lang="en-US" sz="3200">
                <a:solidFill>
                  <a:schemeClr val="tx2"/>
                </a:solidFill>
              </a:rPr>
              <a:t>), there is a unique polynomial of degree (at most) </a:t>
            </a:r>
            <a:r>
              <a:rPr lang="en-US" sz="3200" i="1">
                <a:solidFill>
                  <a:schemeClr val="tx2"/>
                </a:solidFill>
              </a:rPr>
              <a:t>d</a:t>
            </a:r>
            <a:r>
              <a:rPr lang="en-US" sz="3200">
                <a:solidFill>
                  <a:schemeClr val="tx2"/>
                </a:solidFill>
              </a:rPr>
              <a:t>: </a:t>
            </a:r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 i="1" baseline="-25000">
                <a:solidFill>
                  <a:schemeClr val="tx2"/>
                </a:solidFill>
              </a:rPr>
              <a:t>i</a:t>
            </a:r>
            <a:r>
              <a:rPr lang="en-US" sz="3200">
                <a:solidFill>
                  <a:schemeClr val="tx2"/>
                </a:solidFill>
              </a:rPr>
              <a:t>)=</a:t>
            </a:r>
            <a:r>
              <a:rPr lang="en-US" sz="3200" i="1">
                <a:solidFill>
                  <a:schemeClr val="tx2"/>
                </a:solidFill>
              </a:rPr>
              <a:t>y</a:t>
            </a:r>
            <a:r>
              <a:rPr lang="en-US" sz="3200" i="1" baseline="-25000">
                <a:solidFill>
                  <a:schemeClr val="tx2"/>
                </a:solidFill>
              </a:rPr>
              <a:t>i</a:t>
            </a:r>
            <a:r>
              <a:rPr lang="en-US" sz="3200">
                <a:solidFill>
                  <a:schemeClr val="tx2"/>
                </a:solidFill>
              </a:rPr>
              <a:t> (1≤</a:t>
            </a:r>
            <a:r>
              <a:rPr lang="en-US" sz="3200" i="1">
                <a:solidFill>
                  <a:schemeClr val="tx2"/>
                </a:solidFill>
              </a:rPr>
              <a:t>i </a:t>
            </a:r>
            <a:r>
              <a:rPr lang="en-US" sz="3200">
                <a:solidFill>
                  <a:schemeClr val="tx2"/>
                </a:solidFill>
              </a:rPr>
              <a:t>≤</a:t>
            </a:r>
            <a:r>
              <a:rPr lang="en-US" sz="3200" i="1">
                <a:solidFill>
                  <a:schemeClr val="tx2"/>
                </a:solidFill>
              </a:rPr>
              <a:t>d</a:t>
            </a:r>
            <a:r>
              <a:rPr lang="en-US" sz="3200">
                <a:solidFill>
                  <a:schemeClr val="tx2"/>
                </a:solidFill>
              </a:rPr>
              <a:t>+1)</a:t>
            </a:r>
          </a:p>
        </p:txBody>
      </p:sp>
      <p:sp>
        <p:nvSpPr>
          <p:cNvPr id="89104" name="Text Box 16"/>
          <p:cNvSpPr txBox="1">
            <a:spLocks noChangeArrowheads="1"/>
          </p:cNvSpPr>
          <p:nvPr/>
        </p:nvSpPr>
        <p:spPr bwMode="auto">
          <a:xfrm>
            <a:off x="533400" y="3733800"/>
            <a:ext cx="4876800" cy="252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 b="1" i="1">
                <a:solidFill>
                  <a:srgbClr val="F0720A"/>
                </a:solidFill>
              </a:rPr>
              <a:t>d</a:t>
            </a:r>
            <a:r>
              <a:rPr lang="en-US" sz="3200" b="1">
                <a:solidFill>
                  <a:srgbClr val="F0720A"/>
                </a:solidFill>
              </a:rPr>
              <a:t> = 1: two points determine a line</a:t>
            </a:r>
          </a:p>
          <a:p>
            <a:r>
              <a:rPr lang="en-US" sz="3200" b="1" i="1">
                <a:solidFill>
                  <a:srgbClr val="F0720A"/>
                </a:solidFill>
              </a:rPr>
              <a:t>d</a:t>
            </a:r>
            <a:r>
              <a:rPr lang="en-US" sz="3200" b="1">
                <a:solidFill>
                  <a:srgbClr val="F0720A"/>
                </a:solidFill>
              </a:rPr>
              <a:t> = 2: three points determine a degree 2 polynomial</a:t>
            </a:r>
          </a:p>
        </p:txBody>
      </p:sp>
      <p:pic>
        <p:nvPicPr>
          <p:cNvPr id="89105" name="Picture 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3690938"/>
            <a:ext cx="3352800" cy="309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Proof by Contradiction</a:t>
            </a:r>
          </a:p>
        </p:txBody>
      </p:sp>
      <p:sp>
        <p:nvSpPr>
          <p:cNvPr id="144392" name="Rectangle 8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144393" name="Text Box 9"/>
          <p:cNvSpPr txBox="1">
            <a:spLocks noChangeArrowheads="1"/>
          </p:cNvSpPr>
          <p:nvPr/>
        </p:nvSpPr>
        <p:spPr bwMode="auto">
          <a:xfrm>
            <a:off x="533400" y="1828800"/>
            <a:ext cx="8229600" cy="252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>
                <a:solidFill>
                  <a:srgbClr val="F0720A"/>
                </a:solidFill>
              </a:rPr>
              <a:t>Assume</a:t>
            </a:r>
            <a:r>
              <a:rPr lang="en-US" sz="3200">
                <a:solidFill>
                  <a:schemeClr val="tx2"/>
                </a:solidFill>
              </a:rPr>
              <a:t> there exists </a:t>
            </a:r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 baseline="-25000">
                <a:solidFill>
                  <a:schemeClr val="tx2"/>
                </a:solidFill>
              </a:rPr>
              <a:t>1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 and </a:t>
            </a:r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 baseline="-25000">
                <a:solidFill>
                  <a:schemeClr val="tx2"/>
                </a:solidFill>
              </a:rPr>
              <a:t>2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 (degree less than </a:t>
            </a:r>
            <a:r>
              <a:rPr lang="en-US" sz="3200" i="1">
                <a:solidFill>
                  <a:schemeClr val="tx2"/>
                </a:solidFill>
              </a:rPr>
              <a:t>d</a:t>
            </a:r>
            <a:r>
              <a:rPr lang="en-US" sz="3200">
                <a:solidFill>
                  <a:schemeClr val="tx2"/>
                </a:solidFill>
              </a:rPr>
              <a:t>) that goes through </a:t>
            </a:r>
            <a:r>
              <a:rPr lang="en-US" sz="3200" i="1">
                <a:solidFill>
                  <a:schemeClr val="tx2"/>
                </a:solidFill>
              </a:rPr>
              <a:t>d</a:t>
            </a:r>
            <a:r>
              <a:rPr lang="en-US" sz="3200">
                <a:solidFill>
                  <a:schemeClr val="tx2"/>
                </a:solidFill>
              </a:rPr>
              <a:t>+1 points.</a:t>
            </a:r>
          </a:p>
          <a:p>
            <a:r>
              <a:rPr lang="en-US" sz="3200">
                <a:solidFill>
                  <a:schemeClr val="tx2"/>
                </a:solidFill>
              </a:rPr>
              <a:t>Let </a:t>
            </a:r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 = </a:t>
            </a:r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 baseline="-25000">
                <a:solidFill>
                  <a:schemeClr val="tx2"/>
                </a:solidFill>
              </a:rPr>
              <a:t>1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 – </a:t>
            </a:r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 baseline="-25000">
                <a:solidFill>
                  <a:schemeClr val="tx2"/>
                </a:solidFill>
              </a:rPr>
              <a:t>2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</a:t>
            </a:r>
          </a:p>
          <a:p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 has at least </a:t>
            </a:r>
            <a:r>
              <a:rPr lang="en-US" sz="3200" i="1">
                <a:solidFill>
                  <a:schemeClr val="tx2"/>
                </a:solidFill>
              </a:rPr>
              <a:t>d</a:t>
            </a:r>
            <a:r>
              <a:rPr lang="en-US" sz="3200">
                <a:solidFill>
                  <a:schemeClr val="tx2"/>
                </a:solidFill>
              </a:rPr>
              <a:t>+1 roots</a:t>
            </a:r>
          </a:p>
          <a:p>
            <a:r>
              <a:rPr lang="en-US" sz="3200" i="1">
                <a:solidFill>
                  <a:schemeClr val="tx2"/>
                </a:solidFill>
              </a:rPr>
              <a:t>P</a:t>
            </a:r>
            <a:r>
              <a:rPr lang="en-US" sz="3200">
                <a:solidFill>
                  <a:schemeClr val="tx2"/>
                </a:solidFill>
              </a:rPr>
              <a:t>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 has at most degree d. </a:t>
            </a:r>
            <a:r>
              <a:rPr lang="en-US" sz="3200">
                <a:solidFill>
                  <a:srgbClr val="F0720A"/>
                </a:solidFill>
              </a:rPr>
              <a:t>Contradiction</a:t>
            </a:r>
            <a:r>
              <a:rPr lang="en-US" sz="320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Question</a:t>
            </a:r>
          </a:p>
        </p:txBody>
      </p:sp>
      <p:sp>
        <p:nvSpPr>
          <p:cNvPr id="141320" name="Rectangle 8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141324" name="Line 12"/>
          <p:cNvSpPr>
            <a:spLocks noChangeShapeType="1"/>
          </p:cNvSpPr>
          <p:nvPr/>
        </p:nvSpPr>
        <p:spPr bwMode="auto">
          <a:xfrm>
            <a:off x="3124200" y="4724400"/>
            <a:ext cx="3276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41325" name="Line 13"/>
          <p:cNvSpPr>
            <a:spLocks noChangeShapeType="1"/>
          </p:cNvSpPr>
          <p:nvPr/>
        </p:nvSpPr>
        <p:spPr bwMode="auto">
          <a:xfrm flipV="1">
            <a:off x="3429000" y="2438400"/>
            <a:ext cx="0" cy="274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41327" name="Oval 15"/>
          <p:cNvSpPr>
            <a:spLocks noChangeArrowheads="1"/>
          </p:cNvSpPr>
          <p:nvPr/>
        </p:nvSpPr>
        <p:spPr bwMode="auto">
          <a:xfrm>
            <a:off x="4267200" y="2895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41330" name="Oval 18"/>
          <p:cNvSpPr>
            <a:spLocks noChangeArrowheads="1"/>
          </p:cNvSpPr>
          <p:nvPr/>
        </p:nvSpPr>
        <p:spPr bwMode="auto">
          <a:xfrm>
            <a:off x="38100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41331" name="Oval 19"/>
          <p:cNvSpPr>
            <a:spLocks noChangeArrowheads="1"/>
          </p:cNvSpPr>
          <p:nvPr/>
        </p:nvSpPr>
        <p:spPr bwMode="auto">
          <a:xfrm>
            <a:off x="5257800" y="3581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41334" name="Freeform 22"/>
          <p:cNvSpPr>
            <a:spLocks/>
          </p:cNvSpPr>
          <p:nvPr/>
        </p:nvSpPr>
        <p:spPr bwMode="auto">
          <a:xfrm>
            <a:off x="3810000" y="2667000"/>
            <a:ext cx="1828800" cy="1676400"/>
          </a:xfrm>
          <a:custGeom>
            <a:avLst/>
            <a:gdLst/>
            <a:ahLst/>
            <a:cxnLst>
              <a:cxn ang="0">
                <a:pos x="0" y="1056"/>
              </a:cxn>
              <a:cxn ang="0">
                <a:pos x="528" y="0"/>
              </a:cxn>
              <a:cxn ang="0">
                <a:pos x="1152" y="1056"/>
              </a:cxn>
            </a:cxnLst>
            <a:rect l="0" t="0" r="r" b="b"/>
            <a:pathLst>
              <a:path w="1152" h="1056">
                <a:moveTo>
                  <a:pt x="0" y="1056"/>
                </a:moveTo>
                <a:cubicBezTo>
                  <a:pt x="168" y="528"/>
                  <a:pt x="336" y="0"/>
                  <a:pt x="528" y="0"/>
                </a:cubicBezTo>
                <a:cubicBezTo>
                  <a:pt x="720" y="0"/>
                  <a:pt x="936" y="528"/>
                  <a:pt x="1152" y="1056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Question</a:t>
            </a:r>
          </a:p>
        </p:txBody>
      </p:sp>
      <p:sp>
        <p:nvSpPr>
          <p:cNvPr id="169992" name="Rectangle 8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170005" name="Line 21"/>
          <p:cNvSpPr>
            <a:spLocks noChangeShapeType="1"/>
          </p:cNvSpPr>
          <p:nvPr/>
        </p:nvSpPr>
        <p:spPr bwMode="auto">
          <a:xfrm>
            <a:off x="3124200" y="4724400"/>
            <a:ext cx="3276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70006" name="Line 22"/>
          <p:cNvSpPr>
            <a:spLocks noChangeShapeType="1"/>
          </p:cNvSpPr>
          <p:nvPr/>
        </p:nvSpPr>
        <p:spPr bwMode="auto">
          <a:xfrm flipV="1">
            <a:off x="3429000" y="2438400"/>
            <a:ext cx="0" cy="274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70007" name="Oval 23"/>
          <p:cNvSpPr>
            <a:spLocks noChangeArrowheads="1"/>
          </p:cNvSpPr>
          <p:nvPr/>
        </p:nvSpPr>
        <p:spPr bwMode="auto">
          <a:xfrm>
            <a:off x="3962400" y="3581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70008" name="Oval 24"/>
          <p:cNvSpPr>
            <a:spLocks noChangeArrowheads="1"/>
          </p:cNvSpPr>
          <p:nvPr/>
        </p:nvSpPr>
        <p:spPr bwMode="auto">
          <a:xfrm>
            <a:off x="5029200" y="3048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70009" name="Freeform 25"/>
          <p:cNvSpPr>
            <a:spLocks/>
          </p:cNvSpPr>
          <p:nvPr/>
        </p:nvSpPr>
        <p:spPr bwMode="auto">
          <a:xfrm>
            <a:off x="3810000" y="2667000"/>
            <a:ext cx="1828800" cy="1676400"/>
          </a:xfrm>
          <a:custGeom>
            <a:avLst/>
            <a:gdLst/>
            <a:ahLst/>
            <a:cxnLst>
              <a:cxn ang="0">
                <a:pos x="0" y="1056"/>
              </a:cxn>
              <a:cxn ang="0">
                <a:pos x="528" y="0"/>
              </a:cxn>
              <a:cxn ang="0">
                <a:pos x="1152" y="1056"/>
              </a:cxn>
            </a:cxnLst>
            <a:rect l="0" t="0" r="r" b="b"/>
            <a:pathLst>
              <a:path w="1152" h="1056">
                <a:moveTo>
                  <a:pt x="0" y="1056"/>
                </a:moveTo>
                <a:cubicBezTo>
                  <a:pt x="168" y="528"/>
                  <a:pt x="336" y="0"/>
                  <a:pt x="528" y="0"/>
                </a:cubicBezTo>
                <a:cubicBezTo>
                  <a:pt x="720" y="0"/>
                  <a:pt x="936" y="528"/>
                  <a:pt x="1152" y="1056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70010" name="Freeform 26"/>
          <p:cNvSpPr>
            <a:spLocks/>
          </p:cNvSpPr>
          <p:nvPr/>
        </p:nvSpPr>
        <p:spPr bwMode="auto">
          <a:xfrm>
            <a:off x="3886200" y="3124200"/>
            <a:ext cx="22098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672" y="0"/>
              </a:cxn>
              <a:cxn ang="0">
                <a:pos x="1392" y="432"/>
              </a:cxn>
            </a:cxnLst>
            <a:rect l="0" t="0" r="r" b="b"/>
            <a:pathLst>
              <a:path w="1392" h="432">
                <a:moveTo>
                  <a:pt x="0" y="432"/>
                </a:moveTo>
                <a:cubicBezTo>
                  <a:pt x="220" y="216"/>
                  <a:pt x="440" y="0"/>
                  <a:pt x="672" y="0"/>
                </a:cubicBezTo>
                <a:cubicBezTo>
                  <a:pt x="904" y="0"/>
                  <a:pt x="1148" y="216"/>
                  <a:pt x="1392" y="432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0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0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0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0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009" grpId="0" animBg="1"/>
      <p:bldP spid="1700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Question</a:t>
            </a:r>
          </a:p>
        </p:txBody>
      </p:sp>
      <p:sp>
        <p:nvSpPr>
          <p:cNvPr id="172040" name="Rectangle 8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172047" name="Line 15"/>
          <p:cNvSpPr>
            <a:spLocks noChangeShapeType="1"/>
          </p:cNvSpPr>
          <p:nvPr/>
        </p:nvSpPr>
        <p:spPr bwMode="auto">
          <a:xfrm>
            <a:off x="3124200" y="4724400"/>
            <a:ext cx="3276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72048" name="Line 16"/>
          <p:cNvSpPr>
            <a:spLocks noChangeShapeType="1"/>
          </p:cNvSpPr>
          <p:nvPr/>
        </p:nvSpPr>
        <p:spPr bwMode="auto">
          <a:xfrm flipV="1">
            <a:off x="3429000" y="2438400"/>
            <a:ext cx="0" cy="274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vi-VN"/>
          </a:p>
        </p:txBody>
      </p:sp>
      <p:sp>
        <p:nvSpPr>
          <p:cNvPr id="172049" name="Oval 17"/>
          <p:cNvSpPr>
            <a:spLocks noChangeArrowheads="1"/>
          </p:cNvSpPr>
          <p:nvPr/>
        </p:nvSpPr>
        <p:spPr bwMode="auto">
          <a:xfrm>
            <a:off x="45720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72050" name="Oval 18"/>
          <p:cNvSpPr>
            <a:spLocks noChangeArrowheads="1"/>
          </p:cNvSpPr>
          <p:nvPr/>
        </p:nvSpPr>
        <p:spPr bwMode="auto">
          <a:xfrm>
            <a:off x="38100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72051" name="Oval 19"/>
          <p:cNvSpPr>
            <a:spLocks noChangeArrowheads="1"/>
          </p:cNvSpPr>
          <p:nvPr/>
        </p:nvSpPr>
        <p:spPr bwMode="auto">
          <a:xfrm>
            <a:off x="50292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72052" name="Line 20"/>
          <p:cNvSpPr>
            <a:spLocks noChangeShapeType="1"/>
          </p:cNvSpPr>
          <p:nvPr/>
        </p:nvSpPr>
        <p:spPr bwMode="auto">
          <a:xfrm flipV="1">
            <a:off x="3657600" y="2514600"/>
            <a:ext cx="182880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286000" y="3962400"/>
            <a:ext cx="4695303" cy="1752600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How to find </a:t>
            </a:r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698" y="2286000"/>
            <a:ext cx="4818605" cy="13040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625" y="4072834"/>
            <a:ext cx="4144751" cy="14707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Finite Field (Galois Field)</a:t>
            </a:r>
          </a:p>
        </p:txBody>
      </p:sp>
      <p:sp>
        <p:nvSpPr>
          <p:cNvPr id="174088" name="Rectangle 8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533400" y="1828800"/>
            <a:ext cx="8229600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 b="1">
                <a:solidFill>
                  <a:schemeClr val="tx2"/>
                </a:solidFill>
              </a:rPr>
              <a:t>The numbers used are limited to the range {0, 1, …, m-1}</a:t>
            </a:r>
          </a:p>
          <a:p>
            <a:r>
              <a:rPr lang="en-US" sz="3200" b="1">
                <a:solidFill>
                  <a:schemeClr val="accent1"/>
                </a:solidFill>
              </a:rPr>
              <a:t>m = 5: GF(5)</a:t>
            </a:r>
            <a:endParaRPr lang="en-US" sz="3200" b="1">
              <a:solidFill>
                <a:srgbClr val="F0720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3505200"/>
            <a:ext cx="8229600" cy="2246313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txBody>
          <a:bodyPr anchor="ctr">
            <a:spAutoFit/>
          </a:bodyPr>
          <a:lstStyle/>
          <a:p>
            <a:r>
              <a:rPr lang="en-US" sz="2800" b="1">
                <a:solidFill>
                  <a:srgbClr val="F0720A"/>
                </a:solidFill>
              </a:rPr>
              <a:t>4 + 2 = </a:t>
            </a:r>
            <a:r>
              <a:rPr lang="en-US" sz="2800" b="1">
                <a:solidFill>
                  <a:srgbClr val="50861A"/>
                </a:solidFill>
              </a:rPr>
              <a:t>1 </a:t>
            </a:r>
            <a:r>
              <a:rPr lang="en-US" sz="2800" b="1">
                <a:solidFill>
                  <a:srgbClr val="F0720A"/>
                </a:solidFill>
              </a:rPr>
              <a:t>(mod </a:t>
            </a:r>
            <a:r>
              <a:rPr lang="en-US" sz="2800" b="1">
                <a:solidFill>
                  <a:schemeClr val="accent1"/>
                </a:solidFill>
              </a:rPr>
              <a:t>5</a:t>
            </a:r>
            <a:r>
              <a:rPr lang="en-US" sz="2800" b="1">
                <a:solidFill>
                  <a:srgbClr val="F0720A"/>
                </a:solidFill>
              </a:rPr>
              <a:t>)      </a:t>
            </a:r>
            <a:r>
              <a:rPr lang="en-US" sz="2800" b="1">
                <a:solidFill>
                  <a:schemeClr val="accent1"/>
                </a:solidFill>
              </a:rPr>
              <a:t>5</a:t>
            </a:r>
            <a:r>
              <a:rPr lang="en-US" sz="2800" b="1">
                <a:solidFill>
                  <a:srgbClr val="F0720A"/>
                </a:solidFill>
              </a:rPr>
              <a:t> divides 4 + 2 - </a:t>
            </a:r>
            <a:r>
              <a:rPr lang="en-US" sz="2800" b="1">
                <a:solidFill>
                  <a:srgbClr val="50861A"/>
                </a:solidFill>
              </a:rPr>
              <a:t>1</a:t>
            </a:r>
          </a:p>
          <a:p>
            <a:r>
              <a:rPr lang="en-US" sz="2800" b="1">
                <a:solidFill>
                  <a:srgbClr val="F0720A"/>
                </a:solidFill>
              </a:rPr>
              <a:t>3 - 4 = </a:t>
            </a:r>
            <a:r>
              <a:rPr lang="en-US" sz="2800" b="1">
                <a:solidFill>
                  <a:srgbClr val="50861A"/>
                </a:solidFill>
              </a:rPr>
              <a:t>4</a:t>
            </a:r>
            <a:r>
              <a:rPr lang="en-US" sz="2800" b="1">
                <a:solidFill>
                  <a:srgbClr val="F0720A"/>
                </a:solidFill>
              </a:rPr>
              <a:t> (mod </a:t>
            </a:r>
            <a:r>
              <a:rPr lang="en-US" sz="2800" b="1">
                <a:solidFill>
                  <a:schemeClr val="accent1"/>
                </a:solidFill>
              </a:rPr>
              <a:t>5</a:t>
            </a:r>
            <a:r>
              <a:rPr lang="en-US" sz="2800" b="1">
                <a:solidFill>
                  <a:srgbClr val="F0720A"/>
                </a:solidFill>
              </a:rPr>
              <a:t>)       3 - 4 – </a:t>
            </a:r>
            <a:r>
              <a:rPr lang="en-US" sz="2800" b="1">
                <a:solidFill>
                  <a:srgbClr val="50861A"/>
                </a:solidFill>
              </a:rPr>
              <a:t>4</a:t>
            </a:r>
            <a:r>
              <a:rPr lang="en-US" sz="2800" b="1">
                <a:solidFill>
                  <a:srgbClr val="F0720A"/>
                </a:solidFill>
              </a:rPr>
              <a:t> is divisible by </a:t>
            </a:r>
            <a:r>
              <a:rPr lang="en-US" sz="2800" b="1">
                <a:solidFill>
                  <a:schemeClr val="accent1"/>
                </a:solidFill>
              </a:rPr>
              <a:t>5</a:t>
            </a:r>
            <a:endParaRPr lang="en-US" sz="2800" b="1">
              <a:solidFill>
                <a:srgbClr val="F0720A"/>
              </a:solidFill>
            </a:endParaRPr>
          </a:p>
          <a:p>
            <a:r>
              <a:rPr lang="en-US" sz="2800" b="1">
                <a:solidFill>
                  <a:srgbClr val="F0720A"/>
                </a:solidFill>
              </a:rPr>
              <a:t>3 x 4 = </a:t>
            </a:r>
            <a:r>
              <a:rPr lang="en-US" sz="2800" b="1">
                <a:solidFill>
                  <a:srgbClr val="50861A"/>
                </a:solidFill>
              </a:rPr>
              <a:t>2</a:t>
            </a:r>
            <a:r>
              <a:rPr lang="en-US" sz="2800" b="1">
                <a:solidFill>
                  <a:srgbClr val="F0720A"/>
                </a:solidFill>
              </a:rPr>
              <a:t> (mod </a:t>
            </a:r>
            <a:r>
              <a:rPr lang="en-US" sz="2800" b="1">
                <a:solidFill>
                  <a:schemeClr val="accent1"/>
                </a:solidFill>
              </a:rPr>
              <a:t>5</a:t>
            </a:r>
            <a:r>
              <a:rPr lang="en-US" sz="2800" b="1">
                <a:solidFill>
                  <a:srgbClr val="F0720A"/>
                </a:solidFill>
              </a:rPr>
              <a:t>)      3 x 4 – </a:t>
            </a:r>
            <a:r>
              <a:rPr lang="en-US" sz="2800" b="1">
                <a:solidFill>
                  <a:srgbClr val="50861A"/>
                </a:solidFill>
              </a:rPr>
              <a:t>2</a:t>
            </a:r>
            <a:r>
              <a:rPr lang="en-US" sz="2800" b="1">
                <a:solidFill>
                  <a:srgbClr val="F0720A"/>
                </a:solidFill>
              </a:rPr>
              <a:t> is divisible by </a:t>
            </a:r>
            <a:r>
              <a:rPr lang="en-US" sz="2800" b="1">
                <a:solidFill>
                  <a:schemeClr val="accent1"/>
                </a:solidFill>
              </a:rPr>
              <a:t>5</a:t>
            </a:r>
          </a:p>
          <a:p>
            <a:r>
              <a:rPr lang="en-US" sz="2800" b="1">
                <a:solidFill>
                  <a:srgbClr val="F0720A"/>
                </a:solidFill>
              </a:rPr>
              <a:t>4 / 3 = </a:t>
            </a:r>
            <a:r>
              <a:rPr lang="en-US" sz="2800" b="1">
                <a:solidFill>
                  <a:srgbClr val="50861A"/>
                </a:solidFill>
              </a:rPr>
              <a:t>3 </a:t>
            </a:r>
            <a:r>
              <a:rPr lang="en-US" sz="2800" b="1">
                <a:solidFill>
                  <a:srgbClr val="F0720A"/>
                </a:solidFill>
              </a:rPr>
              <a:t>(mod </a:t>
            </a:r>
            <a:r>
              <a:rPr lang="en-US" sz="2800" b="1">
                <a:solidFill>
                  <a:schemeClr val="accent1"/>
                </a:solidFill>
              </a:rPr>
              <a:t>5</a:t>
            </a:r>
            <a:r>
              <a:rPr lang="en-US" sz="2800" b="1">
                <a:solidFill>
                  <a:srgbClr val="F0720A"/>
                </a:solidFill>
              </a:rPr>
              <a:t>)</a:t>
            </a:r>
            <a:r>
              <a:rPr lang="en-US" sz="2800" b="1">
                <a:solidFill>
                  <a:srgbClr val="50861A"/>
                </a:solidFill>
              </a:rPr>
              <a:t>      </a:t>
            </a:r>
            <a:r>
              <a:rPr lang="en-US" sz="2800" b="1">
                <a:solidFill>
                  <a:srgbClr val="F0720A"/>
                </a:solidFill>
              </a:rPr>
              <a:t> 2 is multiplicative inverse of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Finite Field GF(5)</a:t>
            </a:r>
          </a:p>
        </p:txBody>
      </p:sp>
      <p:sp>
        <p:nvSpPr>
          <p:cNvPr id="152584" name="Rectangle 8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pic>
        <p:nvPicPr>
          <p:cNvPr id="152587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0" y="2057400"/>
            <a:ext cx="44958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2588" name="Object 12"/>
          <p:cNvGraphicFramePr>
            <a:graphicFrameLocks noChangeAspect="1"/>
          </p:cNvGraphicFramePr>
          <p:nvPr/>
        </p:nvGraphicFramePr>
        <p:xfrm>
          <a:off x="6553200" y="2133600"/>
          <a:ext cx="21336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17" name="Equation" r:id="rId5" imgW="850680" imgH="203040" progId="Equation.3">
                  <p:embed/>
                </p:oleObj>
              </mc:Choice>
              <mc:Fallback>
                <p:oleObj name="Equation" r:id="rId5" imgW="850680" imgH="2030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133600"/>
                        <a:ext cx="2133600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9" name="Object 13"/>
          <p:cNvGraphicFramePr>
            <a:graphicFrameLocks noChangeAspect="1"/>
          </p:cNvGraphicFramePr>
          <p:nvPr/>
        </p:nvGraphicFramePr>
        <p:xfrm>
          <a:off x="6565900" y="2971800"/>
          <a:ext cx="2120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18" name="Equation" r:id="rId7" imgW="825480" imgH="203040" progId="Equation.3">
                  <p:embed/>
                </p:oleObj>
              </mc:Choice>
              <mc:Fallback>
                <p:oleObj name="Equation" r:id="rId7" imgW="825480" imgH="2030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2971800"/>
                        <a:ext cx="2120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Secret Sharing</a:t>
            </a:r>
          </a:p>
        </p:txBody>
      </p:sp>
      <p:sp>
        <p:nvSpPr>
          <p:cNvPr id="150536" name="Rectangle 8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150539" name="Text Box 11"/>
          <p:cNvSpPr txBox="1">
            <a:spLocks noChangeArrowheads="1"/>
          </p:cNvSpPr>
          <p:nvPr/>
        </p:nvSpPr>
        <p:spPr bwMode="auto">
          <a:xfrm>
            <a:off x="533400" y="1828800"/>
            <a:ext cx="8229600" cy="350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A password is required to launch a nuclear strike.</a:t>
            </a:r>
          </a:p>
          <a:p>
            <a:r>
              <a:rPr lang="en-US" sz="3200" i="1">
                <a:solidFill>
                  <a:schemeClr val="tx2"/>
                </a:solidFill>
              </a:rPr>
              <a:t>N</a:t>
            </a:r>
            <a:r>
              <a:rPr lang="en-US" sz="3200">
                <a:solidFill>
                  <a:schemeClr val="tx2"/>
                </a:solidFill>
              </a:rPr>
              <a:t> major officials know part of the password.</a:t>
            </a:r>
          </a:p>
          <a:p>
            <a:r>
              <a:rPr lang="en-US" sz="3200">
                <a:solidFill>
                  <a:schemeClr val="tx2"/>
                </a:solidFill>
              </a:rPr>
              <a:t>Any group of k officials can figure out the password.</a:t>
            </a:r>
          </a:p>
          <a:p>
            <a:r>
              <a:rPr lang="en-US" sz="3200">
                <a:solidFill>
                  <a:schemeClr val="tx2"/>
                </a:solidFill>
              </a:rPr>
              <a:t>No group of k-1 officials can figure out the password.</a:t>
            </a:r>
            <a:endParaRPr lang="en-US" sz="3200">
              <a:solidFill>
                <a:srgbClr val="F0720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Secret Sharing</a:t>
            </a:r>
          </a:p>
        </p:txBody>
      </p:sp>
      <p:sp>
        <p:nvSpPr>
          <p:cNvPr id="176136" name="Rectangle 8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176138" name="Text Box 10"/>
          <p:cNvSpPr txBox="1">
            <a:spLocks noChangeArrowheads="1"/>
          </p:cNvSpPr>
          <p:nvPr/>
        </p:nvSpPr>
        <p:spPr bwMode="auto">
          <a:xfrm>
            <a:off x="533400" y="1828800"/>
            <a:ext cx="8229600" cy="496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There are n officials. Group of k officials can learn the secret.</a:t>
            </a:r>
          </a:p>
          <a:p>
            <a:r>
              <a:rPr lang="en-US" sz="3200">
                <a:solidFill>
                  <a:schemeClr val="tx2"/>
                </a:solidFill>
              </a:rPr>
              <a:t>The launch code is s</a:t>
            </a:r>
          </a:p>
          <a:p>
            <a:r>
              <a:rPr lang="en-US" sz="3200">
                <a:solidFill>
                  <a:schemeClr val="tx2"/>
                </a:solidFill>
              </a:rPr>
              <a:t>Pick a random polynomial P of degree k-1 such that P(0) = s</a:t>
            </a:r>
          </a:p>
          <a:p>
            <a:r>
              <a:rPr lang="en-US" sz="3200">
                <a:solidFill>
                  <a:schemeClr val="tx2"/>
                </a:solidFill>
              </a:rPr>
              <a:t>Give P(1) to the first official, P(2) to the second official…</a:t>
            </a:r>
          </a:p>
          <a:p>
            <a:r>
              <a:rPr lang="en-US" sz="3200">
                <a:solidFill>
                  <a:schemeClr val="tx2"/>
                </a:solidFill>
              </a:rPr>
              <a:t>Any k officials, having the value of the polynomial at k points, can find P, and then compute P(0) to learn the secret.</a:t>
            </a:r>
            <a:endParaRPr lang="en-US" sz="3200">
              <a:solidFill>
                <a:srgbClr val="F0720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7200" y="914400"/>
            <a:ext cx="8305800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Example</a:t>
            </a:r>
          </a:p>
        </p:txBody>
      </p:sp>
      <p:sp>
        <p:nvSpPr>
          <p:cNvPr id="178184" name="Rectangle 8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vi-VN"/>
          </a:p>
        </p:txBody>
      </p:sp>
      <p:sp>
        <p:nvSpPr>
          <p:cNvPr id="178185" name="Text Box 9"/>
          <p:cNvSpPr txBox="1">
            <a:spLocks noChangeArrowheads="1"/>
          </p:cNvSpPr>
          <p:nvPr/>
        </p:nvSpPr>
        <p:spPr bwMode="auto">
          <a:xfrm>
            <a:off x="533400" y="1828800"/>
            <a:ext cx="8229600" cy="350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There are 3 people. Group of 2 can learn the secret. The secret is 4.</a:t>
            </a:r>
          </a:p>
          <a:p>
            <a:r>
              <a:rPr lang="en-US" sz="3200">
                <a:solidFill>
                  <a:schemeClr val="tx2"/>
                </a:solidFill>
              </a:rPr>
              <a:t>P(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) = </a:t>
            </a:r>
            <a:r>
              <a:rPr lang="en-US" sz="3200" i="1">
                <a:solidFill>
                  <a:schemeClr val="tx2"/>
                </a:solidFill>
              </a:rPr>
              <a:t>x</a:t>
            </a:r>
            <a:r>
              <a:rPr lang="en-US" sz="3200">
                <a:solidFill>
                  <a:schemeClr val="tx2"/>
                </a:solidFill>
              </a:rPr>
              <a:t>+4</a:t>
            </a:r>
          </a:p>
          <a:p>
            <a:r>
              <a:rPr lang="en-US" sz="3200">
                <a:solidFill>
                  <a:schemeClr val="tx2"/>
                </a:solidFill>
              </a:rPr>
              <a:t>Give P(1)=5 to the first official, P(2)=6 to the second official, P(3)=7 to the last official.</a:t>
            </a:r>
          </a:p>
          <a:p>
            <a:r>
              <a:rPr lang="en-US" sz="3200">
                <a:solidFill>
                  <a:schemeClr val="tx2"/>
                </a:solidFill>
              </a:rPr>
              <a:t>If official 1 and 3 get together, they know P(1)=5 and P(3)=7, they can find P(x)=x+4.</a:t>
            </a:r>
            <a:endParaRPr lang="en-US" sz="3200">
              <a:solidFill>
                <a:srgbClr val="F0720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1858</TotalTime>
  <Words>563</Words>
  <Application>Microsoft Macintosh PowerPoint</Application>
  <PresentationFormat>On-screen Show (4:3)</PresentationFormat>
  <Paragraphs>77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 Narrow</vt:lpstr>
      <vt:lpstr>Calibri</vt:lpstr>
      <vt:lpstr>Calibri Light</vt:lpstr>
      <vt:lpstr>Symbol</vt:lpstr>
      <vt:lpstr>Times New Roman</vt:lpstr>
      <vt:lpstr>Verdana</vt:lpstr>
      <vt:lpstr>Wingdings</vt:lpstr>
      <vt:lpstr>Arial</vt:lpstr>
      <vt:lpstr>Office Theme</vt:lpstr>
      <vt:lpstr>Equation</vt:lpstr>
      <vt:lpstr>DISCRETE MATHEMATIC LEC-06: Polynomials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Prepositions</dc:title>
  <dc:creator>ThuTrang</dc:creator>
  <cp:lastModifiedBy>Microsoft Office User</cp:lastModifiedBy>
  <cp:revision>327</cp:revision>
  <dcterms:created xsi:type="dcterms:W3CDTF">2007-05-13T06:24:37Z</dcterms:created>
  <dcterms:modified xsi:type="dcterms:W3CDTF">2024-10-03T05:33:49Z</dcterms:modified>
</cp:coreProperties>
</file>